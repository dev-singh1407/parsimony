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B.Tech · BCSE497J Project-I</a:t>
            </a:r>
          </a:p>
          <a:p>
            <a:r>
              <a:rPr sz="2800" b="1"/>
              <a:t>Token-Efficient LLM Interaction on CPU-Only Hardware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</a:pPr>
            <a:r>
              <a:rPr sz="1500"/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>
              <a:spcAft>
                <a:spcPts val="300"/>
              </a:spcAft>
            </a:pPr>
            <a:r>
              <a:rPr sz="1500"/>
              <a:t>    Arrsh Tripathi    (23BCI0191)</a:t>
            </a:r>
          </a:p>
          <a:p>
            <a:pPr>
              <a:spcAft>
                <a:spcPts val="300"/>
              </a:spcAft>
            </a:pPr>
            <a:r>
              <a:rPr sz="1500"/>
              <a:t>    Alok Singh    (23BCI0158)</a:t>
            </a:r>
          </a:p>
          <a:p>
            <a:pPr>
              <a:spcAft>
                <a:spcPts val="300"/>
              </a:spcAft>
            </a:pPr>
            <a:r>
              <a:rPr sz="1500"/>
              <a:t>    Dev Singh    (23BCE0794)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/>
              <a:t>Faculty guide : Dr Sathya K</a:t>
            </a:r>
          </a:p>
          <a:p>
            <a:pPr>
              <a:spcAft>
                <a:spcPts val="300"/>
              </a:spcAft>
            </a:pPr>
            <a:r>
              <a:rPr sz="1500"/>
              <a:t>School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01-09-2026.(sample attached below)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6" y="2653482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500"/>
              <a:t>Cut the token cost of talking to a small language model on a CPU-only laptop —</a:t>
            </a:r>
          </a:p>
          <a:p>
            <a:pPr>
              <a:spcAft>
                <a:spcPts val="300"/>
              </a:spcAft>
            </a:pPr>
            <a:r>
              <a:rPr sz="1500"/>
              <a:t>without changing the meaning of any request.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/>
              <a:t>Seven optimisation modules plus an always-on fidelity gate. Every module PROPOSES a</a:t>
            </a:r>
          </a:p>
          <a:p>
            <a:pPr>
              <a:spcAft>
                <a:spcPts val="300"/>
              </a:spcAft>
            </a:pPr>
            <a:r>
              <a:rPr sz="1500"/>
              <a:t>change; one orchestrator COMMITS it, and only after the gate has checked it.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500"/>
              <a:t>Because every module is independently switchable, the system is a 2^4 factorial</a:t>
            </a:r>
          </a:p>
          <a:p>
            <a:pPr>
              <a:spcAft>
                <a:spcPts val="300"/>
              </a:spcAft>
            </a:pPr>
            <a:r>
              <a:rPr sz="1500"/>
              <a:t>experiment rather than a fixed pipeline — which is what makes the headline result</a:t>
            </a:r>
          </a:p>
          <a:p>
            <a:pPr>
              <a:spcAft>
                <a:spcPts val="300"/>
              </a:spcAft>
            </a:pPr>
            <a:r>
              <a:rPr sz="1500"/>
              <a:t>measurable at all.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300"/>
              <a:t>Prompt compression, semantic caching, KV-cache reuse, routing and output budgeting each</a:t>
            </a:r>
          </a:p>
          <a:p>
            <a:pPr>
              <a:spcAft>
                <a:spcPts val="300"/>
              </a:spcAft>
            </a:pPr>
            <a:r>
              <a:rPr sz="1300"/>
              <a:t>reduce token cost. They are published ALONE, each against an uncompressed baseline.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/>
              <a:t>We survey 40 papers, derive six research gaps, and build all of these techniques into one</a:t>
            </a:r>
          </a:p>
          <a:p>
            <a:pPr>
              <a:spcAft>
                <a:spcPts val="300"/>
              </a:spcAft>
            </a:pPr>
            <a:r>
              <a:rPr sz="1300"/>
              <a:t>instrumented pipeline so their INTERACTION can be measured.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/>
              <a:t>Result: 33.9% fewer tokens with zero loss of answer accuracy (92.5% → 97.5% on 40 gold</a:t>
            </a:r>
          </a:p>
          <a:p>
            <a:pPr>
              <a:spcAft>
                <a:spcPts val="300"/>
              </a:spcAft>
            </a:pPr>
            <a:r>
              <a:rPr sz="1300"/>
              <a:t>items, no regressions). Savings do NOT compound — an additivity shortfall of 1.63 pp.</a:t>
            </a:r>
          </a:p>
          <a:p>
            <a:pPr>
              <a:spcAft>
                <a:spcPts val="300"/>
              </a:spcAft>
            </a:pPr>
            <a:r>
              <a:rPr sz="1300"/>
              <a:t>Prefill is 92–99% of CPU time at ~8.5 ms per input token. And the cache thresholds</a:t>
            </a:r>
          </a:p>
          <a:p>
            <a:pPr>
              <a:spcAft>
                <a:spcPts val="300"/>
              </a:spcAft>
            </a:pPr>
            <a:r>
              <a:rPr sz="1300"/>
              <a:t>published as safe would serve the opposite answer on our adversarial set.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22-08-2026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pPr>
              <a:spcBef>
                <a:spcPts val="600"/>
              </a:spcBef>
            </a:pPr>
            <a:r>
              <a:rPr sz="1300" b="1"/>
              <a:t>Prompt compression — 15 papers</a:t>
            </a:r>
          </a:p>
          <a:p>
            <a:pPr>
              <a:spcAft>
                <a:spcPts val="200"/>
              </a:spcAft>
            </a:pPr>
            <a:r>
              <a:rPr sz="1100"/>
              <a:t>    LLMLingua (EMNLP'23), Selective Context (EMNLP'23), LLMLingua-2. Up to 20x compression.  Gap: every one measured in isolation, never against a cache.</a:t>
            </a:r>
          </a:p>
          <a:p>
            <a:pPr>
              <a:spcBef>
                <a:spcPts val="600"/>
              </a:spcBef>
            </a:pPr>
            <a:r>
              <a:rPr sz="1300" b="1"/>
              <a:t>Semantic caching — 7 papers</a:t>
            </a:r>
          </a:p>
          <a:p>
            <a:pPr>
              <a:spcAft>
                <a:spcPts val="200"/>
              </a:spcAft>
            </a:pPr>
            <a:r>
              <a:rPr sz="1100"/>
              <a:t>    GPTCache (NLP-OSS'23), MeanCache, ContextCache. All use a single similarity threshold, quoted safe at 0.85–0.92.  Gap: never validated against opposite-meaning pairs.</a:t>
            </a:r>
          </a:p>
          <a:p>
            <a:pPr>
              <a:spcBef>
                <a:spcPts val="600"/>
              </a:spcBef>
            </a:pPr>
            <a:r>
              <a:rPr sz="1300" b="1"/>
              <a:t>KV cache / prefix reuse — 5 papers</a:t>
            </a:r>
          </a:p>
          <a:p>
            <a:pPr>
              <a:spcAft>
                <a:spcPts val="200"/>
              </a:spcAft>
            </a:pPr>
            <a:r>
              <a:rPr sz="1100"/>
              <a:t>    PagedAttention (SOSP'23), vLLM prefix caching, ChunkAttention.  Gap: GPU serving; the application cost of an unstable prompt head is never priced.</a:t>
            </a:r>
          </a:p>
          <a:p>
            <a:pPr>
              <a:spcBef>
                <a:spcPts val="600"/>
              </a:spcBef>
            </a:pPr>
            <a:r>
              <a:rPr sz="1300" b="1"/>
              <a:t>Positional effects — 4 papers</a:t>
            </a:r>
          </a:p>
          <a:p>
            <a:pPr>
              <a:spcAft>
                <a:spcPts val="200"/>
              </a:spcAft>
            </a:pPr>
            <a:r>
              <a:rPr sz="1100"/>
              <a:t>    Lost in the Middle (TACL'24): accuracy peaks at the prompt edges.  Gap: reordering by relevance DESTROYS prefix reuse — neither literature names it.</a:t>
            </a:r>
          </a:p>
          <a:p>
            <a:pPr>
              <a:spcBef>
                <a:spcPts val="600"/>
              </a:spcBef>
            </a:pPr>
            <a:r>
              <a:rPr sz="1300" b="1"/>
              <a:t>Routing and cascades — 6 papers</a:t>
            </a:r>
          </a:p>
          <a:p>
            <a:pPr>
              <a:spcAft>
                <a:spcPts val="200"/>
              </a:spcAft>
            </a:pPr>
            <a:r>
              <a:rPr sz="1100"/>
              <a:t>    FrugalGPT, RouteLLM. Up to 98% cost reduction against commercial APIs.  Gap: assumes the larger tier is meaningfully better — untrue at 1.5B vs 3B here.</a:t>
            </a:r>
          </a:p>
          <a:p>
            <a:pPr>
              <a:spcBef>
                <a:spcPts val="600"/>
              </a:spcBef>
            </a:pPr>
            <a:r>
              <a:rPr sz="1300" b="1"/>
              <a:t>Output length, evaluation, energy — 3 + surveys</a:t>
            </a:r>
          </a:p>
          <a:p>
            <a:pPr>
              <a:spcAft>
                <a:spcPts val="200"/>
              </a:spcAft>
            </a:pPr>
            <a:r>
              <a:rPr sz="1100"/>
              <a:t>    Length control needs fine-tuning; judge-bias work documents position and self-preference bias; all energy measurement is GPU datacentre.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Bef>
                <a:spcPts val="600"/>
              </a:spcBef>
            </a:pPr>
            <a:r>
              <a:rPr sz="1300" b="1"/>
              <a:t>Gap 1  Composition is unmeasured</a:t>
            </a:r>
          </a:p>
          <a:p>
            <a:pPr>
              <a:spcAft>
                <a:spcPts val="200"/>
              </a:spcAft>
            </a:pPr>
            <a:r>
              <a:rPr sz="1100"/>
              <a:t>    Every technique is evaluated alone. Whether savings ADD when composed is unknown.</a:t>
            </a:r>
          </a:p>
          <a:p>
            <a:pPr>
              <a:spcBef>
                <a:spcPts val="600"/>
              </a:spcBef>
            </a:pPr>
            <a:r>
              <a:rPr sz="1300" b="1"/>
              <a:t>Gap 2  CPU prefill/decode split uncharacterised</a:t>
            </a:r>
          </a:p>
          <a:p>
            <a:pPr>
              <a:spcAft>
                <a:spcPts val="200"/>
              </a:spcAft>
            </a:pPr>
            <a:r>
              <a:rPr sz="1100"/>
              <a:t>    The literature measures GPU throughput. Which half a laptop pays for is unestablished.</a:t>
            </a:r>
          </a:p>
          <a:p>
            <a:pPr>
              <a:spcBef>
                <a:spcPts val="600"/>
              </a:spcBef>
            </a:pPr>
            <a:r>
              <a:rPr sz="1300" b="1"/>
              <a:t>Gap 3  Compression x cache interaction</a:t>
            </a:r>
          </a:p>
          <a:p>
            <a:pPr>
              <a:spcAft>
                <a:spcPts val="200"/>
              </a:spcAft>
            </a:pPr>
            <a:r>
              <a:rPr sz="1100"/>
              <a:t>    Normalising before the cache should raise hit rate. Does it raise FALSE hit rate?</a:t>
            </a:r>
          </a:p>
          <a:p>
            <a:pPr>
              <a:spcBef>
                <a:spcPts val="600"/>
              </a:spcBef>
            </a:pPr>
            <a:r>
              <a:rPr sz="1300" b="1"/>
              <a:t>Gap 4  Published cache thresholds unvalidated</a:t>
            </a:r>
          </a:p>
          <a:p>
            <a:pPr>
              <a:spcAft>
                <a:spcPts val="200"/>
              </a:spcAft>
            </a:pPr>
            <a:r>
              <a:rPr sz="1100"/>
              <a:t>    0.85–0.92 is quoted safe; nobody reports where opposite-meaning pairs actually sit.</a:t>
            </a:r>
          </a:p>
          <a:p>
            <a:pPr>
              <a:spcBef>
                <a:spcPts val="600"/>
              </a:spcBef>
            </a:pPr>
            <a:r>
              <a:rPr sz="1300" b="1"/>
              <a:t>Gap 5  Does a calibration transfer?</a:t>
            </a:r>
          </a:p>
          <a:p>
            <a:pPr>
              <a:spcAft>
                <a:spcPts val="200"/>
              </a:spcAft>
            </a:pPr>
            <a:r>
              <a:rPr sz="1100"/>
              <a:t>    Thresholds are published as universal. Nobody re-runs the protocol without re-tuning.</a:t>
            </a:r>
          </a:p>
          <a:p>
            <a:pPr>
              <a:spcBef>
                <a:spcPts val="600"/>
              </a:spcBef>
            </a:pPr>
            <a:r>
              <a:rPr sz="1300" b="1"/>
              <a:t>Gap 6  Does mined policy transfer?</a:t>
            </a:r>
          </a:p>
          <a:p>
            <a:pPr>
              <a:spcAft>
                <a:spcPts val="200"/>
              </a:spcAft>
            </a:pPr>
            <a:r>
              <a:rPr sz="1100"/>
              <a:t>    Self-improving systems are evaluated on the data they were mined from.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200"/>
              <a:t>RQ1  When techniques are composed, do their savings add — and if not, by how much short?</a:t>
            </a:r>
          </a:p>
          <a:p>
            <a:pPr>
              <a:spcAft>
                <a:spcPts val="300"/>
              </a:spcAft>
            </a:pPr>
            <a:r>
              <a:rPr sz="1200"/>
              <a:t>RQ2  On CPU, which half of a request dominates, and what is one input token worth in ms?</a:t>
            </a:r>
          </a:p>
          <a:p>
            <a:pPr>
              <a:spcAft>
                <a:spcPts val="300"/>
              </a:spcAft>
            </a:pPr>
            <a:r>
              <a:rPr sz="1200"/>
              <a:t>RQ3  Can a cache be made safe against opposite-meaning pairs without a second model pass?</a:t>
            </a:r>
          </a:p>
          <a:p>
            <a:pPr>
              <a:spcAft>
                <a:spcPts val="300"/>
              </a:spcAft>
            </a:pPr>
            <a:r>
              <a:rPr sz="1200"/>
              <a:t>RQ4  Does a calibration transfer to a different configuration without re-tuning?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/>
              <a:t>Contribution 1  The additivity shortfall, measured: 1.63 pp, 95% CI [-0.02, +3.23] —</a:t>
            </a:r>
          </a:p>
          <a:p>
            <a:pPr>
              <a:spcAft>
                <a:spcPts val="300"/>
              </a:spcAft>
            </a:pPr>
            <a:r>
              <a:rPr sz="1200"/>
              <a:t>                and shown to be a property of the CONFIGURATION, not a constant.</a:t>
            </a:r>
          </a:p>
          <a:p>
            <a:pPr>
              <a:spcAft>
                <a:spcPts val="300"/>
              </a:spcAft>
            </a:pPr>
            <a:r>
              <a:rPr sz="1200"/>
              <a:t>Contribution 2  CPU cost structure: prefill 92–99%, ~8.5 ms/input token; and the price of</a:t>
            </a:r>
          </a:p>
          <a:p>
            <a:pPr>
              <a:spcAft>
                <a:spcPts val="300"/>
              </a:spcAft>
            </a:pPr>
            <a:r>
              <a:rPr sz="1200"/>
              <a:t>                prompt order — 212 ms vs 18,914 ms for the same content.</a:t>
            </a:r>
          </a:p>
          <a:p>
            <a:pPr>
              <a:spcAft>
                <a:spcPts val="300"/>
              </a:spcAft>
            </a:pPr>
            <a:r>
              <a:rPr sz="1200"/>
              <a:t>Contribution 3  A verifier that makes reuse safe without a second model: 26.7% → 0.0%.</a:t>
            </a:r>
          </a:p>
          <a:p>
            <a:pPr>
              <a:spcAft>
                <a:spcPts val="300"/>
              </a:spcAft>
            </a:pPr>
            <a:r>
              <a:rPr sz="1200"/>
              <a:t>Contribution 4  Transfer tested both ways: ratios transfer, mechanisms do not; and mined</a:t>
            </a:r>
          </a:p>
          <a:p>
            <a:pPr>
              <a:spcAft>
                <a:spcPts val="300"/>
              </a:spcAft>
            </a:pPr>
            <a:r>
              <a:rPr sz="1200"/>
              <a:t>                policy pays only above ~5–10% traffic repetition.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Goals	|			|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(Patent / Conference (Scopus)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/ Journal (Scopus) / Start-up/ Product/ Others}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100"/>
              <a:t>Modules PROPOSE · one orchestrator COMMITS · the gate checks every proposal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100"/>
              <a:t>M6a  Deterministic router   Answers maths and dates exactly, with no model      23 tokens -&gt; 0</a:t>
            </a:r>
          </a:p>
          <a:p>
            <a:pPr>
              <a:spcAft>
                <a:spcPts val="300"/>
              </a:spcAft>
            </a:pPr>
            <a:r>
              <a:rPr sz="1100"/>
              <a:t>M2   Semantic cache         Reuses an earlier answer; three-zone accept/verify/rejectprompt never sent</a:t>
            </a:r>
          </a:p>
          <a:p>
            <a:pPr>
              <a:spcAft>
                <a:spcPts val="300"/>
              </a:spcAft>
            </a:pPr>
            <a:r>
              <a:rPr sz="1100"/>
              <a:t>M3a  History selector       Keeps only the prior turns that matter (MMR)        8 turns -&gt; 6</a:t>
            </a:r>
          </a:p>
          <a:p>
            <a:pPr>
              <a:spcAft>
                <a:spcPts val="300"/>
              </a:spcAft>
            </a:pPr>
            <a:r>
              <a:rPr sz="1100"/>
              <a:t>M3b  History arranger       Orders the kept turns                               order changes cost</a:t>
            </a:r>
          </a:p>
          <a:p>
            <a:pPr>
              <a:spcAft>
                <a:spcPts val="300"/>
              </a:spcAft>
            </a:pPr>
            <a:r>
              <a:rPr sz="1100"/>
              <a:t>M1a  Tier 1 boilerplate     Strips greetings, politeness, markdown              28 -&gt; 17 tokens</a:t>
            </a:r>
          </a:p>
          <a:p>
            <a:pPr>
              <a:spcAft>
                <a:spcPts val="300"/>
              </a:spcAft>
            </a:pPr>
            <a:r>
              <a:rPr sz="1100"/>
              <a:t>M1b  Tier 2 redundancy      Deletes a sentence repeating a known fact           36 -&gt; 26 tokens</a:t>
            </a:r>
          </a:p>
          <a:p>
            <a:pPr>
              <a:spcAft>
                <a:spcPts val="300"/>
              </a:spcAft>
            </a:pPr>
            <a:r>
              <a:rPr sz="1100"/>
              <a:t>M1c  Tier 3 word level      Shortens wording, with a negative-yield guard       rejects zero-yield</a:t>
            </a:r>
          </a:p>
          <a:p>
            <a:pPr>
              <a:spcAft>
                <a:spcPts val="300"/>
              </a:spcAft>
            </a:pPr>
            <a:r>
              <a:rPr sz="1100"/>
              <a:t>M4   Prefix-stable assemblerInvariant text first, so the KV cache is reusable   212 ms vs 18,914 ms</a:t>
            </a:r>
          </a:p>
          <a:p>
            <a:pPr>
              <a:spcAft>
                <a:spcPts val="300"/>
              </a:spcAft>
            </a:pPr>
            <a:r>
              <a:rPr sz="1100"/>
              <a:t>M5   Output budgeter        Caps answer length by question class                48 ... 640 tokens</a:t>
            </a:r>
          </a:p>
          <a:p>
            <a:pPr>
              <a:spcAft>
                <a:spcPts val="300"/>
              </a:spcAft>
            </a:pPr>
            <a:r>
              <a:rPr sz="1100"/>
              <a:t>M6b  Escalation router      Decides whether a bigger model is warranted         calibrated, off</a:t>
            </a:r>
          </a:p>
          <a:p>
            <a:pPr>
              <a:spcAft>
                <a:spcPts val="300"/>
              </a:spcAft>
            </a:pPr>
            <a:r>
              <a:rPr sz="1100"/>
              <a:t>M8   FIDELITY GATE          Checks EVERY proposal above; refuses any that drops a number, name, negation or qualifier26.7% -&gt; 0.0% false answers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300"/>
              <a:t>F1  Every module independently switchable, so a factorial cell means what it claims.</a:t>
            </a:r>
          </a:p>
          <a:p>
            <a:pPr>
              <a:spcAft>
                <a:spcPts val="300"/>
              </a:spcAft>
            </a:pPr>
            <a:r>
              <a:rPr sz="1300"/>
              <a:t>F2  Stage order is configuration, validated against a reads/writes dependency graph.</a:t>
            </a:r>
          </a:p>
          <a:p>
            <a:pPr>
              <a:spcAft>
                <a:spcPts val="300"/>
              </a:spcAft>
            </a:pPr>
            <a:r>
              <a:rPr sz="1300"/>
              <a:t>F3  Every stage writes a ledger row — including stages that did nothing.</a:t>
            </a:r>
          </a:p>
          <a:p>
            <a:pPr>
              <a:spcAft>
                <a:spcPts val="300"/>
              </a:spcAft>
            </a:pPr>
            <a:r>
              <a:rPr sz="1300"/>
              <a:t>F4  No transformation is applied until the fidelity gate has approved it.</a:t>
            </a:r>
          </a:p>
          <a:p>
            <a:pPr>
              <a:spcAft>
                <a:spcPts val="300"/>
              </a:spcAft>
            </a:pPr>
            <a:r>
              <a:rPr sz="1300"/>
              <a:t>F5  A run that asks for the real model and cannot reach it REFUSES rather than</a:t>
            </a:r>
          </a:p>
          <a:p>
            <a:pPr>
              <a:spcAft>
                <a:spcPts val="300"/>
              </a:spcAft>
            </a:pPr>
            <a:r>
              <a:rPr sz="1300"/>
              <a:t>    silently falling back to the deterministic stand-in.</a:t>
            </a:r>
          </a:p>
          <a:p>
            <a:pPr>
              <a:spcAft>
                <a:spcPts val="300"/>
              </a:spcAft>
            </a:pPr>
            <a:r>
              <a:rPr sz="1300"/>
              <a:t>F6  Every reported figure regenerates from raw logs with one command (~100 s).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300"/>
              <a:t>Non-functional: CPU-only, 8 GB RAM, fully offline; middleware overhead under 120 ms;</a:t>
            </a:r>
          </a:p>
          <a:p>
            <a:pPr>
              <a:spcAft>
                <a:spcPts val="300"/>
              </a:spcAft>
            </a:pPr>
            <a:r>
              <a:rPr sz="1300"/>
              <a:t>dependencies limited to numpy, tokenizers, typer, rich, pytest.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100"/>
              <a:t>Each module is switchable independently, which is what makes the ablation valid.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100"/>
              <a:t>M6a   Deterministic router    Answers maths and dates exactly, with no model</a:t>
            </a:r>
          </a:p>
          <a:p>
            <a:pPr>
              <a:spcAft>
                <a:spcPts val="300"/>
              </a:spcAft>
            </a:pPr>
            <a:r>
              <a:rPr sz="1100"/>
              <a:t>M2    Semantic cache          Reuses an earlier answer; three-zone accept/verify/reject</a:t>
            </a:r>
          </a:p>
          <a:p>
            <a:pPr>
              <a:spcAft>
                <a:spcPts val="300"/>
              </a:spcAft>
            </a:pPr>
            <a:r>
              <a:rPr sz="1100"/>
              <a:t>M3a   History selector        Keeps only the prior turns that matter (MMR)</a:t>
            </a:r>
          </a:p>
          <a:p>
            <a:pPr>
              <a:spcAft>
                <a:spcPts val="300"/>
              </a:spcAft>
            </a:pPr>
            <a:r>
              <a:rPr sz="1100"/>
              <a:t>M3b   History arranger        Orders the kept turns</a:t>
            </a:r>
          </a:p>
          <a:p>
            <a:pPr>
              <a:spcAft>
                <a:spcPts val="300"/>
              </a:spcAft>
            </a:pPr>
            <a:r>
              <a:rPr sz="1100"/>
              <a:t>M1a   Tier 1 boilerplate      Strips greetings, politeness, markdown</a:t>
            </a:r>
          </a:p>
          <a:p>
            <a:pPr>
              <a:spcAft>
                <a:spcPts val="300"/>
              </a:spcAft>
            </a:pPr>
            <a:r>
              <a:rPr sz="1100"/>
              <a:t>M1b   Tier 2 redundancy       Deletes a sentence repeating a known fact</a:t>
            </a:r>
          </a:p>
          <a:p>
            <a:pPr>
              <a:spcAft>
                <a:spcPts val="300"/>
              </a:spcAft>
            </a:pPr>
            <a:r>
              <a:rPr sz="1100"/>
              <a:t>M1c   Tier 3 word level       Shortens wording, with a negative-yield guard</a:t>
            </a:r>
          </a:p>
          <a:p>
            <a:pPr>
              <a:spcAft>
                <a:spcPts val="300"/>
              </a:spcAft>
            </a:pPr>
            <a:r>
              <a:rPr sz="1100"/>
              <a:t>M4    Prefix-stable assembler Invariant text first, so the KV cache is reusable</a:t>
            </a:r>
          </a:p>
          <a:p>
            <a:pPr>
              <a:spcAft>
                <a:spcPts val="300"/>
              </a:spcAft>
            </a:pPr>
            <a:r>
              <a:rPr sz="1100"/>
              <a:t>M5    Output budgeter         Caps answer length by question class</a:t>
            </a:r>
          </a:p>
          <a:p>
            <a:pPr>
              <a:spcAft>
                <a:spcPts val="300"/>
              </a:spcAft>
            </a:pPr>
            <a:r>
              <a:rPr sz="1100"/>
              <a:t>M6b   Escalation router       Decides whether a bigger model is warranted</a:t>
            </a:r>
          </a:p>
          <a:p>
            <a:pPr>
              <a:spcAft>
                <a:spcPts val="300"/>
              </a:spcAft>
            </a:pPr>
            <a:r>
              <a:rPr sz="1100"/>
              <a:t>M8    FIDELITY GATE           Checks EVERY proposal above; refuses any that drops a number, name, negation or qualifier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100"/>
              <a:t>Headline — savings do not compound</a:t>
            </a:r>
          </a:p>
          <a:p>
            <a:pPr>
              <a:spcAft>
                <a:spcPts val="300"/>
              </a:spcAft>
            </a:pPr>
            <a:r>
              <a:rPr sz="1100"/>
              <a:t>    M5 output budgeter  +13.44 pp   (eta^2 0.556)</a:t>
            </a:r>
          </a:p>
          <a:p>
            <a:pPr>
              <a:spcAft>
                <a:spcPts val="300"/>
              </a:spcAft>
            </a:pPr>
            <a:r>
              <a:rPr sz="1100"/>
              <a:t>    M3 history manager  +11.82 pp   (eta^2 0.430)</a:t>
            </a:r>
          </a:p>
          <a:p>
            <a:pPr>
              <a:spcAft>
                <a:spcPts val="300"/>
              </a:spcAft>
            </a:pPr>
            <a:r>
              <a:rPr sz="1100"/>
              <a:t>    M2 semantic cache    +1.94 pp</a:t>
            </a:r>
          </a:p>
          <a:p>
            <a:pPr>
              <a:spcAft>
                <a:spcPts val="300"/>
              </a:spcAft>
            </a:pPr>
            <a:r>
              <a:rPr sz="1100"/>
              <a:t>    M1 compressor        +0.23 pp</a:t>
            </a:r>
          </a:p>
          <a:p>
            <a:pPr>
              <a:spcAft>
                <a:spcPts val="300"/>
              </a:spcAft>
            </a:pPr>
            <a:r>
              <a:rPr sz="1100"/>
              <a:t>    Full stack: +33.9% total token reduction</a:t>
            </a:r>
          </a:p>
          <a:p>
            <a:pPr>
              <a:spcAft>
                <a:spcPts val="300"/>
              </a:spcAft>
            </a:pPr>
            <a:r>
              <a:rPr sz="1100"/>
              <a:t>    Additivity shortfall: 1.63 pp, 95% CI [-0.02, +3.23]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100"/>
              <a:t>Prefill dominates on CPU</a:t>
            </a:r>
          </a:p>
          <a:p>
            <a:pPr>
              <a:spcAft>
                <a:spcPts val="300"/>
              </a:spcAft>
            </a:pPr>
            <a:r>
              <a:rPr sz="1100"/>
              <a:t>    146 tokens -&gt;  1,360 ms prefill   (91.7% of total)</a:t>
            </a:r>
          </a:p>
          <a:p>
            <a:pPr>
              <a:spcAft>
                <a:spcPts val="300"/>
              </a:spcAft>
            </a:pPr>
            <a:r>
              <a:rPr sz="1100"/>
              <a:t>    1,338 tokens -&gt; 11,609 ms prefill  (98.8% of total)</a:t>
            </a:r>
          </a:p>
          <a:p>
            <a:pPr>
              <a:spcAft>
                <a:spcPts val="300"/>
              </a:spcAft>
            </a:pPr>
            <a:r>
              <a:rPr sz="1100"/>
              <a:t>    ~8.5 ms per input token  =&gt;  100.6 s saved across the corpus, 383 ms/request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100"/>
              <a:t>Safety: the verifier, not the threshold</a:t>
            </a:r>
          </a:p>
          <a:p>
            <a:pPr>
              <a:spcAft>
                <a:spcPts val="300"/>
              </a:spcAft>
            </a:pPr>
            <a:r>
              <a:rPr sz="1100"/>
              <a:t>    Adversarial negation pair sits at cosine 0.924 — ABOVE every genuine paraphrase</a:t>
            </a:r>
          </a:p>
          <a:p>
            <a:pPr>
              <a:spcAft>
                <a:spcPts val="300"/>
              </a:spcAft>
            </a:pPr>
            <a:r>
              <a:rPr sz="1100"/>
              <a:t>    False-answer rate 26.7% -&gt; 0.0% at tau &gt;= 0.92, on 45 adversarial + 45 controls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100"/>
              <a:t>Quality is not the price</a:t>
            </a:r>
          </a:p>
          <a:p>
            <a:pPr>
              <a:spcAft>
                <a:spcPts val="300"/>
              </a:spcAft>
            </a:pPr>
            <a:r>
              <a:rPr sz="1100"/>
              <a:t>    Gold accuracy, real model: baseline 92.5%  -&gt;  full stack 97.5%</a:t>
            </a:r>
          </a:p>
          <a:p>
            <a:pPr>
              <a:spcAft>
                <a:spcPts val="300"/>
              </a:spcAft>
            </a:pPr>
            <a:r>
              <a:rPr sz="1100"/>
              <a:t>    Zero regressions: not one answer the baseline got right was lost</a:t>
            </a:r>
          </a:p>
          <a:p>
            <a:pPr>
              <a:spcAft>
                <a:spcPts val="300"/>
              </a:spcAft>
            </a:p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200"/>
              <a:t>The literature has a rich toolbox and a thin account of what happens when the tools</a:t>
            </a:r>
          </a:p>
          <a:p>
            <a:pPr>
              <a:spcAft>
                <a:spcPts val="300"/>
              </a:spcAft>
            </a:pPr>
            <a:r>
              <a:rPr sz="1200"/>
              <a:t>are used together. The contribution here is a MEASUREMENT INSTRUMENT: eight techniques</a:t>
            </a:r>
          </a:p>
          <a:p>
            <a:pPr>
              <a:spcAft>
                <a:spcPts val="300"/>
              </a:spcAft>
            </a:pPr>
            <a:r>
              <a:rPr sz="1200"/>
              <a:t>in one harness, each independently switchable, every decision written to a ledger.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/>
              <a:t>What it found, repeatedly, is that published operating points are configuration-specific.</a:t>
            </a:r>
          </a:p>
          <a:p>
            <a:pPr>
              <a:spcAft>
                <a:spcPts val="300"/>
              </a:spcAft>
            </a:pPr>
            <a:r>
              <a:rPr sz="1200"/>
              <a:t>A threshold quoted as safe is unsafe here. A placement strategy justified by a well-cited</a:t>
            </a:r>
          </a:p>
          <a:p>
            <a:pPr>
              <a:spcAft>
                <a:spcPts val="300"/>
              </a:spcAft>
            </a:pPr>
            <a:r>
              <a:rPr sz="1200"/>
              <a:t>attention result is 80x more expensive here. A calibration transfers as a ratio but not as</a:t>
            </a:r>
          </a:p>
          <a:p>
            <a:pPr>
              <a:spcAft>
                <a:spcPts val="300"/>
              </a:spcAft>
            </a:pPr>
            <a:r>
              <a:rPr sz="1200"/>
              <a:t>a mechanism. An escalation premise that holds at 70B does not hold at 3B.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/>
              <a:t>For this class of system the deliverable is a CALIBRATION PROCEDURE, not a number.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200"/>
              <a:t>Status: 719 automated tests passing; 39 architecture decision records; all figures</a:t>
            </a:r>
          </a:p>
          <a:p>
            <a:pPr>
              <a:spcAft>
                <a:spcPts val="300"/>
              </a:spcAft>
            </a:pPr>
            <a:r>
              <a:rPr sz="1200"/>
              <a:t>regenerate from raw logs in about 100 seconds.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sz="1000"/>
              <a:t>[1] Y. Li, B. Dong, C. Lin, F. Guerin, "Compressing Context to Enhance Inference Efficiency of Large Language Models," EMNLP, 2023.</a:t>
            </a:r>
          </a:p>
          <a:p>
            <a:pPr>
              <a:spcAft>
                <a:spcPts val="300"/>
              </a:spcAft>
            </a:pPr>
            <a:r>
              <a:rPr sz="1000"/>
              <a:t>[2] H. Jiang, Q. Wu, C.-Y. Lin, Y. Yang, L. Qiu, "LLMLingua: Compressing Prompts for Accelerated Inference of Large Language Models," EMNLP, 2023.</a:t>
            </a:r>
          </a:p>
          <a:p>
            <a:pPr>
              <a:spcAft>
                <a:spcPts val="300"/>
              </a:spcAft>
            </a:pPr>
            <a:r>
              <a:rPr sz="1000"/>
              <a:t>[3] F. Bang, "GPTCache: An Open-Source Semantic Cache for LLM Applications," NLP-OSS at EMNLP, 2023.</a:t>
            </a:r>
          </a:p>
          <a:p>
            <a:pPr>
              <a:spcAft>
                <a:spcPts val="300"/>
              </a:spcAft>
            </a:pPr>
            <a:r>
              <a:rPr sz="1000"/>
              <a:t>[4] W. Kwon et al., "Efficient Memory Management for Large Language Model Serving with PagedAttention," SOSP, 2023.</a:t>
            </a:r>
          </a:p>
          <a:p>
            <a:pPr>
              <a:spcAft>
                <a:spcPts val="300"/>
              </a:spcAft>
            </a:pPr>
            <a:r>
              <a:rPr sz="1000"/>
              <a:t>[5] N. F. Liu et al., "Lost in the Middle: How Language Models Use Long Contexts," TACL, vol. 12, pp. 157–173, 2024.</a:t>
            </a:r>
          </a:p>
          <a:p>
            <a:pPr>
              <a:spcAft>
                <a:spcPts val="300"/>
              </a:spcAft>
            </a:pPr>
            <a:r>
              <a:rPr sz="1000"/>
              <a:t>[6] L. Chen, M. Zaharia, J. Zou, "FrugalGPT: How to Use Large Language Models While Reducing Cost and Improving Performance," arXiv:2305.05176, 2023.</a:t>
            </a:r>
          </a:p>
          <a:p>
            <a:pPr>
              <a:spcAft>
                <a:spcPts val="300"/>
              </a:spcAft>
            </a:pPr>
            <a:r>
              <a:rPr sz="1000"/>
              <a:t>[7] I. Ong et al., "RouteLLM: Learning to Route LLMs with Preference Data," arXiv:2406.18665, 2024.</a:t>
            </a:r>
          </a:p>
          <a:p>
            <a:pPr>
              <a:spcAft>
                <a:spcPts val="300"/>
              </a:spcAft>
            </a:pPr>
            <a:r>
              <a:rPr sz="1000"/>
              <a:t>[8] "An Empirical Study on Prompt Compression for Large Language Models," ICLR, 2025.</a:t>
            </a:r>
          </a:p>
          <a:p>
            <a:pPr>
              <a:spcAft>
                <a:spcPts val="300"/>
              </a:spcAft>
            </a:pPr>
            <a:r>
              <a:rPr sz="1000"/>
              <a:t>[9] "From Similarity to Vulnerability: Key Collision Attack on LLM Semantic Caching," arXiv:2601.23088, 2026.</a:t>
            </a:r>
          </a:p>
          <a:p>
            <a:pPr>
              <a:spcAft>
                <a:spcPts val="300"/>
              </a:spcAft>
            </a:pPr>
            <a:r>
              <a:rPr sz="1000"/>
              <a:t>[10] "Enhancing adversarial resilience in semantic caching for secure retrieval augmented generation systems," Scientific Reports, 2026.</a:t>
            </a:r>
          </a:p>
          <a:p>
            <a:pPr>
              <a:spcAft>
                <a:spcPts val="300"/>
              </a:spcAft>
            </a:pPr>
          </a:p>
          <a:p>
            <a:pPr>
              <a:spcAft>
                <a:spcPts val="300"/>
              </a:spcAft>
            </a:pPr>
            <a:r>
              <a:rPr sz="1000"/>
              <a:t>Full 40-paper survey with limitations and metrics: docs/13-review2-dossier.md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Parthasarathy G</cp:lastModifiedBy>
  <cp:revision>5</cp:revision>
  <dcterms:created xsi:type="dcterms:W3CDTF">2026-07-14T06:00:41Z</dcterms:created>
  <dcterms:modified xsi:type="dcterms:W3CDTF">2026-08-22T10:32:54Z</dcterms:modified>
</cp:coreProperties>
</file>