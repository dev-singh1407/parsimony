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4" r:id="rId9"/>
    <p:sldId id="265" r:id="rId10"/>
    <p:sldId id="266" r:id="rId11"/>
    <p:sldId id="267" r:id="rId12"/>
    <p:sldId id="268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45" d="100"/>
          <a:sy n="45" d="100"/>
        </p:scale>
        <p:origin x="1025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8E2E1-8886-43B2-B986-F2B06DAA2FAC}" type="datetimeFigureOut">
              <a:rPr lang="en-IN" smtClean="0"/>
              <a:t>22-08-2026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59FDF3-42B5-4A41-B75E-186C389084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9858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92BF-19BE-9BF0-E2FC-07A36D054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3AB4F9-CBB3-B18D-E917-C3B064186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0F18A0-E201-1900-A139-E830DD3E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3E78AE-7F97-4550-9DD8-BF69171FDC30}" type="datetime1">
              <a:rPr lang="en-IN" smtClean="0"/>
              <a:t>22-08-2026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906B9-B1F6-B52E-2EE0-7595B1EB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13AE1-F96E-D540-8DE1-8D903DB30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5197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2F7EA-3EC9-99AF-13A9-22A3F8B2D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1419B-73DB-15DA-D2EE-0FC01B43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80259-8D20-E29B-4DC5-312C3DB01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22-08-2026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1830E-3502-194A-88FA-DC3E0F1B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6703C-229C-43C6-0484-38EC263AD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990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E344-6494-09A6-A5E4-811EEE0CD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51A0E2-2B9B-B96E-A3FD-0B26BDDBE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7CE67-8E8A-4D0D-42DF-DDC842B1B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2BD8-A2C4-424B-809A-C64DDCC305D9}" type="datetime1">
              <a:rPr lang="en-IN" smtClean="0"/>
              <a:t>22-08-2026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A78C3E-C139-1FD1-979B-D71679959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2F297-889B-B694-6DD5-92F8A6AA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814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2C89C-FEA2-11F6-7988-ADD14A7B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5DE7B-A406-1142-36EA-1C14987402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355A2B-361E-86CB-ABBE-C510D2B22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DA5E84-A1E0-A1C4-F7E6-DA9E7B12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0F4BC-B3A4-46AF-9AEC-8478EF1369D5}" type="datetime1">
              <a:rPr lang="en-IN" smtClean="0"/>
              <a:t>22-08-2026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DDA460-54C8-F2AC-C053-53FF3FAFC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6F132A-BD40-58D2-CEEC-A1BA2B9E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223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823BE-2514-8722-ED45-41E13E46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BFEE3B-6ABA-1D24-97FE-717EBBC99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653C42-4C6D-988F-42A0-8639A508A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B662B4-F942-A78F-394F-74F603717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445FBE-A81E-92E1-36E3-99D1586F83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D20C02-77C2-CB2A-62F8-60B8C6262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A2993-B405-4F4D-B968-A01C27211659}" type="datetime1">
              <a:rPr lang="en-IN" smtClean="0"/>
              <a:t>22-08-2026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033241-EB08-777E-F678-5D641F64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D711ED-181F-C690-A3B3-1D82670FC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9272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468B4-E355-69B3-7598-80ADF2F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F1AB3B-AFC6-3627-62E6-22313061F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8C8C-5FBB-4DD7-A06D-BE263480794B}" type="datetime1">
              <a:rPr lang="en-IN" smtClean="0"/>
              <a:t>22-08-2026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2C6591-48E4-480E-7965-DE9F83015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C9D68-A16A-B2D3-C8A6-B5221AF7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5061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3F289A-3AD7-C11D-1594-90A35E592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2985-06EC-459B-80C8-F6F4362A1C03}" type="datetime1">
              <a:rPr lang="en-IN" smtClean="0"/>
              <a:t>22-08-2026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52269-BBE3-199F-299B-38D4E9CC1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07FDC-B2A9-1304-047F-5808A0B6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726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A4847-FC20-D9BF-0BDE-26EC7EF7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9C584-AC19-D7B4-9DFE-7C1BC2E1B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4A3262-CE8D-2419-DCCC-C536E9FDA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4758D6-7AF2-29C5-E0EE-3B7BE155E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7E9DA-13C6-48A4-9305-B592482DE8CE}" type="datetime1">
              <a:rPr lang="en-IN" smtClean="0"/>
              <a:t>22-08-2026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AAC7E7-68C4-7616-2DE1-0333E2C4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9EF51B-1685-66FF-0783-23584C2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387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39D0E-3A71-7252-C837-B8281F0DE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E3D557-6893-299F-57A8-A7B173F101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CC8BA2-BB08-F4E3-5660-C7370BA56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57E1CE-C7CA-966D-8661-1E99A7DA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E7C4B-C575-4DCF-9B63-045662930500}" type="datetime1">
              <a:rPr lang="en-IN" smtClean="0"/>
              <a:t>22-08-2026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055516-3E64-07E5-10C5-DE056657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BA5AD5-9867-E76D-C035-2856CCFB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017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1D7EC-16EA-5009-5D33-ABFC55F2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09EC6D-8ED5-29E9-9444-CC2D6A1CB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ADFC6-7CEA-ABEE-94C2-870B1E657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931C-EA1A-43DD-B3B3-66F5BA587712}" type="datetime1">
              <a:rPr lang="en-IN" smtClean="0"/>
              <a:t>22-08-2026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FA3A5-596E-6C2A-F853-30C5DC6FB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CE6B1-CE87-B68F-9494-FA6D109F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80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0FF105-FC99-2BCB-131F-2B902F8BA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354FD6-064F-6E12-E8DE-81EC913CD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D2109-32D1-4A0F-F903-5142A204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9B0E1-7C95-4C20-B9C6-BA51F388E878}" type="datetime1">
              <a:rPr lang="en-IN" smtClean="0"/>
              <a:t>22-08-2026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E5353D-EEF9-CF3C-A97F-F0F0EBFA7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2F1DC-3958-BCDE-9A16-88E928E7E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3540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454249-E28B-CF91-F4A6-9762E4F38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D641-7C66-CA7D-30A7-7F95AC27E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1D408-B228-838E-3E43-4304680A53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27C3E-786B-4150-9177-1C28966A2ADC}" type="datetime1">
              <a:rPr lang="en-IN" smtClean="0"/>
              <a:t>22-08-2026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EC7A69-1922-F157-900C-FF9566831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80E76-E345-1553-9664-0BCF569B5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184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9E27CD-EF84-CB3A-3D07-A3152356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236" y="-11493"/>
            <a:ext cx="4517528" cy="187163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BAD67C4-20B4-E1F6-A7E7-C8C33181D0C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907459" y="1934141"/>
            <a:ext cx="8924544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B.Tech · BCSE497J Project-I</a:t>
            </a:r>
          </a:p>
          <a:p>
            <a:r>
              <a:rPr sz="2800" b="1"/>
              <a:t>Token-Efficient LLM Interaction on CPU-Only Hardware</a:t>
            </a: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id="{68BC382C-506F-4908-6AC3-C0AA73064F47}"/>
              </a:ext>
            </a:extLst>
          </p:cNvPr>
          <p:cNvSpPr txBox="1"/>
          <p:nvPr/>
        </p:nvSpPr>
        <p:spPr>
          <a:xfrm>
            <a:off x="2609088" y="3208471"/>
            <a:ext cx="7071360" cy="24608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  <a:spcAft>
                <a:spcPts val="300"/>
              </a:spcAft>
            </a:pPr>
            <a:r>
              <a:rPr sz="1500"/>
              <a:t>Team members:</a:t>
            </a:r>
            <a:endParaRPr sz="1800" dirty="0">
              <a:latin typeface="Times New Roman"/>
              <a:cs typeface="Times New Roman"/>
            </a:endParaRPr>
          </a:p>
          <a:p>
            <a:pPr>
              <a:spcAft>
                <a:spcPts val="300"/>
              </a:spcAft>
            </a:pPr>
            <a:r>
              <a:rPr sz="1500"/>
              <a:t>    Arrsh Tripathi    (23BCI0191)</a:t>
            </a:r>
          </a:p>
          <a:p>
            <a:pPr>
              <a:spcAft>
                <a:spcPts val="300"/>
              </a:spcAft>
            </a:pPr>
            <a:r>
              <a:rPr sz="1500"/>
              <a:t>    Alok Singh    (23BCI0158)</a:t>
            </a:r>
          </a:p>
          <a:p>
            <a:pPr>
              <a:spcAft>
                <a:spcPts val="300"/>
              </a:spcAft>
            </a:pPr>
            <a:r>
              <a:rPr sz="1500"/>
              <a:t>    Dev Singh    (23BCE0794)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/>
              <a:t>Faculty guide : Dr Sathya K</a:t>
            </a:r>
          </a:p>
          <a:p>
            <a:pPr>
              <a:spcAft>
                <a:spcPts val="300"/>
              </a:spcAft>
            </a:pPr>
            <a:r>
              <a:rPr sz="1500"/>
              <a:t>School of Computer Science and Engineering</a:t>
            </a:r>
          </a:p>
        </p:txBody>
      </p:sp>
    </p:spTree>
    <p:extLst>
      <p:ext uri="{BB962C8B-B14F-4D97-AF65-F5344CB8AC3E}">
        <p14:creationId xmlns:p14="http://schemas.microsoft.com/office/powerpoint/2010/main" val="4243036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CBE13-A9D6-9564-DA47-597E38E0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Approval Mail From Guide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3367C-DAD6-6E34-D21A-A981C0944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500"/>
              <a:t>Approval obtained from the faculty guide for the title, objectives,</a:t>
            </a:r>
          </a:p>
          <a:p>
            <a:pPr>
              <a:spcAft>
                <a:spcPts val="300"/>
              </a:spcAft>
            </a:pPr>
            <a:r>
              <a:rPr sz="1500"/>
              <a:t>scope and expected outcomes of this project.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/>
              <a:t>[ Paste the approval mail screenshot here before submitting. 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27C50-3ED3-2DB6-C227-6784C6CA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4170-792F-28F8-1C31-5F7A8D69F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16528B-72DB-0275-6A94-33ABB5CD7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</a:t>
            </a:fld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FF88D1-7A15-E122-39FA-9C7DA1DFCD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6" y="2653482"/>
            <a:ext cx="11381493" cy="3296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560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A428-04DA-E6A8-7606-5D2FE5F31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500"/>
              <a:t>Cut the token cost of talking to a small language model on a CPU-only laptop —</a:t>
            </a:r>
          </a:p>
          <a:p>
            <a:pPr>
              <a:spcAft>
                <a:spcPts val="300"/>
              </a:spcAft>
            </a:pPr>
            <a:r>
              <a:rPr sz="1500"/>
              <a:t>without changing the meaning of any request.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/>
              <a:t>Seven optimisation modules plus an always-on fidelity gate. Every module PROPOSES a</a:t>
            </a:r>
          </a:p>
          <a:p>
            <a:pPr>
              <a:spcAft>
                <a:spcPts val="300"/>
              </a:spcAft>
            </a:pPr>
            <a:r>
              <a:rPr sz="1500"/>
              <a:t>change; one orchestrator COMMITS it, and only after the gate has checked it.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/>
              <a:t>Because every module is independently switchable, the system is a 2^4 factorial</a:t>
            </a:r>
          </a:p>
          <a:p>
            <a:pPr>
              <a:spcAft>
                <a:spcPts val="300"/>
              </a:spcAft>
            </a:pPr>
            <a:r>
              <a:rPr sz="1500"/>
              <a:t>experiment rather than a fixed pipeline — which is what makes the headline result</a:t>
            </a:r>
          </a:p>
          <a:p>
            <a:pPr>
              <a:spcAft>
                <a:spcPts val="300"/>
              </a:spcAft>
            </a:pPr>
            <a:r>
              <a:rPr sz="1500"/>
              <a:t>measurable at all.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027305EA-516C-11F8-8A54-2BA046094A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9E6AA7-AE20-8A91-BA42-261BF76A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6562-4E3F-4038-A291-A7AE35CC3E6A}" type="datetime1">
              <a:rPr lang="en-IN" smtClean="0"/>
              <a:t>22-08-2026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7FE434-77F0-B8BE-9198-66090332F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D6A9DA-AEE9-F6FE-EFA8-06396314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3518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DED8F-1EBD-2E10-598E-0CA3F56F0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300"/>
              <a:t>Prompt compression, semantic caching, KV-cache reuse, routing and output budgeting each</a:t>
            </a:r>
          </a:p>
          <a:p>
            <a:pPr>
              <a:spcAft>
                <a:spcPts val="300"/>
              </a:spcAft>
            </a:pPr>
            <a:r>
              <a:rPr sz="1300"/>
              <a:t>reduce token cost. They are published ALONE, each against an uncompressed baseline.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300"/>
              <a:t>We survey 40 papers, derive six research gaps, and build all of these techniques into one</a:t>
            </a:r>
          </a:p>
          <a:p>
            <a:pPr>
              <a:spcAft>
                <a:spcPts val="300"/>
              </a:spcAft>
            </a:pPr>
            <a:r>
              <a:rPr sz="1300"/>
              <a:t>instrumented pipeline so their INTERACTION can be measured.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300"/>
              <a:t>Result: 33.9% fewer tokens with zero loss of answer accuracy (92.5% → 97.5% on 40 gold</a:t>
            </a:r>
          </a:p>
          <a:p>
            <a:pPr>
              <a:spcAft>
                <a:spcPts val="300"/>
              </a:spcAft>
            </a:pPr>
            <a:r>
              <a:rPr sz="1300"/>
              <a:t>items, no regressions). Savings do NOT compound — an additivity shortfall of 1.63 pp.</a:t>
            </a:r>
          </a:p>
          <a:p>
            <a:pPr>
              <a:spcAft>
                <a:spcPts val="300"/>
              </a:spcAft>
            </a:pPr>
            <a:r>
              <a:rPr sz="1300"/>
              <a:t>Prefill is 92–99% of CPU time at ~8.5 ms per input token. And the cache thresholds</a:t>
            </a:r>
          </a:p>
          <a:p>
            <a:pPr>
              <a:spcAft>
                <a:spcPts val="300"/>
              </a:spcAft>
            </a:pPr>
            <a:r>
              <a:rPr sz="1300"/>
              <a:t>published as safe would serve the opposite answer on our adversarial set.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61D5D-2F82-4210-B67C-C3AADE7FED47}" type="datetime1">
              <a:rPr lang="en-IN" smtClean="0"/>
              <a:t>22-08-2026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9F3C486-F1E8-5229-C983-C5D8372F19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4647" y="1374470"/>
            <a:ext cx="10169009" cy="2054530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6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B6993A-B8FB-1E92-71D4-98155A7ED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58" y="4611603"/>
            <a:ext cx="4017612" cy="487722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9193B-09C0-4C85-858C-650926A9B146}" type="datetime1">
              <a:rPr lang="en-IN" smtClean="0"/>
              <a:t>22-08-2026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wrap="square"/>
          <a:lstStyle/>
          <a:p>
            <a:pPr>
              <a:spcBef>
                <a:spcPts val="600"/>
              </a:spcBef>
            </a:pPr>
            <a:r>
              <a:rPr sz="1300" b="1"/>
              <a:t>Prompt compression — 15 papers</a:t>
            </a:r>
          </a:p>
          <a:p>
            <a:pPr>
              <a:spcAft>
                <a:spcPts val="200"/>
              </a:spcAft>
            </a:pPr>
            <a:r>
              <a:rPr sz="1100"/>
              <a:t>    LLMLingua (EMNLP'23), Selective Context (EMNLP'23), LLMLingua-2. Up to 20x compression.  Gap: every one measured in isolation, never against a cache.</a:t>
            </a:r>
          </a:p>
          <a:p>
            <a:pPr>
              <a:spcBef>
                <a:spcPts val="600"/>
              </a:spcBef>
            </a:pPr>
            <a:r>
              <a:rPr sz="1300" b="1"/>
              <a:t>Semantic caching — 7 papers</a:t>
            </a:r>
          </a:p>
          <a:p>
            <a:pPr>
              <a:spcAft>
                <a:spcPts val="200"/>
              </a:spcAft>
            </a:pPr>
            <a:r>
              <a:rPr sz="1100"/>
              <a:t>    GPTCache (NLP-OSS'23), MeanCache, ContextCache. All use a single similarity threshold, quoted safe at 0.85–0.92.  Gap: never validated against opposite-meaning pairs.</a:t>
            </a:r>
          </a:p>
          <a:p>
            <a:pPr>
              <a:spcBef>
                <a:spcPts val="600"/>
              </a:spcBef>
            </a:pPr>
            <a:r>
              <a:rPr sz="1300" b="1"/>
              <a:t>KV cache / prefix reuse — 5 papers</a:t>
            </a:r>
          </a:p>
          <a:p>
            <a:pPr>
              <a:spcAft>
                <a:spcPts val="200"/>
              </a:spcAft>
            </a:pPr>
            <a:r>
              <a:rPr sz="1100"/>
              <a:t>    PagedAttention (SOSP'23), vLLM prefix caching, ChunkAttention.  Gap: GPU serving; the application cost of an unstable prompt head is never priced.</a:t>
            </a:r>
          </a:p>
          <a:p>
            <a:pPr>
              <a:spcBef>
                <a:spcPts val="600"/>
              </a:spcBef>
            </a:pPr>
            <a:r>
              <a:rPr sz="1300" b="1"/>
              <a:t>Positional effects — 4 papers</a:t>
            </a:r>
          </a:p>
          <a:p>
            <a:pPr>
              <a:spcAft>
                <a:spcPts val="200"/>
              </a:spcAft>
            </a:pPr>
            <a:r>
              <a:rPr sz="1100"/>
              <a:t>    Lost in the Middle (TACL'24): accuracy peaks at the prompt edges.  Gap: reordering by relevance DESTROYS prefix reuse — neither literature names it.</a:t>
            </a:r>
          </a:p>
          <a:p>
            <a:pPr>
              <a:spcBef>
                <a:spcPts val="600"/>
              </a:spcBef>
            </a:pPr>
            <a:r>
              <a:rPr sz="1300" b="1"/>
              <a:t>Routing and cascades — 6 papers</a:t>
            </a:r>
          </a:p>
          <a:p>
            <a:pPr>
              <a:spcAft>
                <a:spcPts val="200"/>
              </a:spcAft>
            </a:pPr>
            <a:r>
              <a:rPr sz="1100"/>
              <a:t>    FrugalGPT, RouteLLM. Up to 98% cost reduction against commercial APIs.  Gap: assumes the larger tier is meaningfully better — untrue at 1.5B vs 3B here.</a:t>
            </a:r>
          </a:p>
          <a:p>
            <a:pPr>
              <a:spcBef>
                <a:spcPts val="600"/>
              </a:spcBef>
            </a:pPr>
            <a:r>
              <a:rPr sz="1300" b="1"/>
              <a:t>Output length, evaluation, energy — 3 + surveys</a:t>
            </a:r>
          </a:p>
          <a:p>
            <a:pPr>
              <a:spcAft>
                <a:spcPts val="200"/>
              </a:spcAft>
            </a:pPr>
            <a:r>
              <a:rPr sz="1100"/>
              <a:t>    Length control needs fine-tuning; judge-bias work documents position and self-preference bias; all energy measurement is GPU datacentre.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64C5E-26B3-2EE9-895A-F822E4C4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F8AC8-6380-9217-CA4C-1FBF1C25C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Bef>
                <a:spcPts val="600"/>
              </a:spcBef>
            </a:pPr>
            <a:r>
              <a:rPr sz="1300" b="1"/>
              <a:t>Gap 1  Composition is unmeasured</a:t>
            </a:r>
          </a:p>
          <a:p>
            <a:pPr>
              <a:spcAft>
                <a:spcPts val="200"/>
              </a:spcAft>
            </a:pPr>
            <a:r>
              <a:rPr sz="1100"/>
              <a:t>    Every technique is evaluated alone. Whether savings ADD when composed is unknown.</a:t>
            </a:r>
          </a:p>
          <a:p>
            <a:pPr>
              <a:spcBef>
                <a:spcPts val="600"/>
              </a:spcBef>
            </a:pPr>
            <a:r>
              <a:rPr sz="1300" b="1"/>
              <a:t>Gap 2  CPU prefill/decode split uncharacterised</a:t>
            </a:r>
          </a:p>
          <a:p>
            <a:pPr>
              <a:spcAft>
                <a:spcPts val="200"/>
              </a:spcAft>
            </a:pPr>
            <a:r>
              <a:rPr sz="1100"/>
              <a:t>    The literature measures GPU throughput. Which half a laptop pays for is unestablished.</a:t>
            </a:r>
          </a:p>
          <a:p>
            <a:pPr>
              <a:spcBef>
                <a:spcPts val="600"/>
              </a:spcBef>
            </a:pPr>
            <a:r>
              <a:rPr sz="1300" b="1"/>
              <a:t>Gap 3  Compression x cache interaction</a:t>
            </a:r>
          </a:p>
          <a:p>
            <a:pPr>
              <a:spcAft>
                <a:spcPts val="200"/>
              </a:spcAft>
            </a:pPr>
            <a:r>
              <a:rPr sz="1100"/>
              <a:t>    Normalising before the cache should raise hit rate. Does it raise FALSE hit rate?</a:t>
            </a:r>
          </a:p>
          <a:p>
            <a:pPr>
              <a:spcBef>
                <a:spcPts val="600"/>
              </a:spcBef>
            </a:pPr>
            <a:r>
              <a:rPr sz="1300" b="1"/>
              <a:t>Gap 4  Published cache thresholds unvalidated</a:t>
            </a:r>
          </a:p>
          <a:p>
            <a:pPr>
              <a:spcAft>
                <a:spcPts val="200"/>
              </a:spcAft>
            </a:pPr>
            <a:r>
              <a:rPr sz="1100"/>
              <a:t>    0.85–0.92 is quoted safe; nobody reports where opposite-meaning pairs actually sit.</a:t>
            </a:r>
          </a:p>
          <a:p>
            <a:pPr>
              <a:spcBef>
                <a:spcPts val="600"/>
              </a:spcBef>
            </a:pPr>
            <a:r>
              <a:rPr sz="1300" b="1"/>
              <a:t>Gap 5  Does a calibration transfer?</a:t>
            </a:r>
          </a:p>
          <a:p>
            <a:pPr>
              <a:spcAft>
                <a:spcPts val="200"/>
              </a:spcAft>
            </a:pPr>
            <a:r>
              <a:rPr sz="1100"/>
              <a:t>    Thresholds are published as universal. Nobody re-runs the protocol without re-tuning.</a:t>
            </a:r>
          </a:p>
          <a:p>
            <a:pPr>
              <a:spcBef>
                <a:spcPts val="600"/>
              </a:spcBef>
            </a:pPr>
            <a:r>
              <a:rPr sz="1300" b="1"/>
              <a:t>Gap 6  Does mined policy transfer?</a:t>
            </a:r>
          </a:p>
          <a:p>
            <a:pPr>
              <a:spcAft>
                <a:spcPts val="200"/>
              </a:spcAft>
            </a:pPr>
            <a:r>
              <a:rPr sz="1100"/>
              <a:t>    Self-improving systems are evaluated on the data they were mined from.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E07AC55-BA5E-4123-39E6-B79860C6C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430A72-466B-CBDE-2F02-635BA91A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E986A-8308-4C4E-A0F3-DDD9B5B25762}" type="datetime1">
              <a:rPr lang="en-IN" smtClean="0"/>
              <a:t>22-08-2026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11DDA3-7A7C-1F61-1795-3A01ED678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E3226-1DB1-3A4D-CE37-4A2AD48EF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3102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3ADE1-559A-2DC2-A801-6A915E106C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200"/>
              <a:t>RQ1  When techniques are composed, do their savings add — and if not, by how much short?</a:t>
            </a:r>
          </a:p>
          <a:p>
            <a:pPr>
              <a:spcAft>
                <a:spcPts val="300"/>
              </a:spcAft>
            </a:pPr>
            <a:r>
              <a:rPr sz="1200"/>
              <a:t>RQ2  On CPU, which half of a request dominates, and what is one input token worth in ms?</a:t>
            </a:r>
          </a:p>
          <a:p>
            <a:pPr>
              <a:spcAft>
                <a:spcPts val="300"/>
              </a:spcAft>
            </a:pPr>
            <a:r>
              <a:rPr sz="1200"/>
              <a:t>RQ3  Can a cache be made safe against opposite-meaning pairs without a second model pass?</a:t>
            </a:r>
          </a:p>
          <a:p>
            <a:pPr>
              <a:spcAft>
                <a:spcPts val="300"/>
              </a:spcAft>
            </a:pPr>
            <a:r>
              <a:rPr sz="1200"/>
              <a:t>RQ4  Does a calibration transfer to a different configuration without re-tuning?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200"/>
              <a:t>Contribution 1  The additivity shortfall, measured: 1.63 pp, 95% CI [-0.02, +3.23] —</a:t>
            </a:r>
          </a:p>
          <a:p>
            <a:pPr>
              <a:spcAft>
                <a:spcPts val="300"/>
              </a:spcAft>
            </a:pPr>
            <a:r>
              <a:rPr sz="1200"/>
              <a:t>                and shown to be a property of the CONFIGURATION, not a constant.</a:t>
            </a:r>
          </a:p>
          <a:p>
            <a:pPr>
              <a:spcAft>
                <a:spcPts val="300"/>
              </a:spcAft>
            </a:pPr>
            <a:r>
              <a:rPr sz="1200"/>
              <a:t>Contribution 2  CPU cost structure: prefill 92–99%, ~8.5 ms/input token; and the price of</a:t>
            </a:r>
          </a:p>
          <a:p>
            <a:pPr>
              <a:spcAft>
                <a:spcPts val="300"/>
              </a:spcAft>
            </a:pPr>
            <a:r>
              <a:rPr sz="1200"/>
              <a:t>                prompt order — 212 ms vs 18,914 ms for the same content.</a:t>
            </a:r>
          </a:p>
          <a:p>
            <a:pPr>
              <a:spcAft>
                <a:spcPts val="300"/>
              </a:spcAft>
            </a:pPr>
            <a:r>
              <a:rPr sz="1200"/>
              <a:t>Contribution 3  A verifier that makes reuse safe without a second model: 26.7% → 0.0%.</a:t>
            </a:r>
          </a:p>
          <a:p>
            <a:pPr>
              <a:spcAft>
                <a:spcPts val="300"/>
              </a:spcAft>
            </a:pPr>
            <a:r>
              <a:rPr sz="1200"/>
              <a:t>Contribution 4  Transfer tested both ways: ratios transfer, mechanisms do not; and mined</a:t>
            </a:r>
          </a:p>
          <a:p>
            <a:pPr>
              <a:spcAft>
                <a:spcPts val="300"/>
              </a:spcAft>
            </a:pPr>
            <a:r>
              <a:rPr sz="1200"/>
              <a:t>                policy pays only above ~5–10% traffic repetition.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22-08-2026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632EBB-2D05-8D00-7F98-43CBAFAF06ED}"/>
              </a:ext>
            </a:extLst>
          </p:cNvPr>
          <p:cNvSpPr txBox="1"/>
          <p:nvPr/>
        </p:nvSpPr>
        <p:spPr>
          <a:xfrm>
            <a:off x="460248" y="4413148"/>
            <a:ext cx="1152340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Identified:   Sustainable Development Goals	|			| 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Outcomes (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(Patent / Conference (Scopus)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	/ Journal (Scopus) / Start-up/ Product/ Others}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3 The UN 17 Sustainable Development Goals (SDGs), implemented by all... | Download Scientific Diagram">
            <a:extLst>
              <a:ext uri="{FF2B5EF4-FFF2-40B4-BE49-F238E27FC236}">
                <a16:creationId xmlns:a16="http://schemas.microsoft.com/office/drawing/2014/main" id="{36180A9B-AA72-E2D6-8362-4CDF7058D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701" y="4778273"/>
            <a:ext cx="1968651" cy="1578077"/>
          </a:xfrm>
          <a:prstGeom prst="rect">
            <a:avLst/>
          </a:prstGeom>
        </p:spPr>
      </p:pic>
      <p:pic>
        <p:nvPicPr>
          <p:cNvPr id="9" name="Picture 8" descr="What are Technology Readiness Levels (TRL)? - TWI">
            <a:extLst>
              <a:ext uri="{FF2B5EF4-FFF2-40B4-BE49-F238E27FC236}">
                <a16:creationId xmlns:a16="http://schemas.microsoft.com/office/drawing/2014/main" id="{D1491C9C-07B3-89C3-5FA0-72C9F44F3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7545" y="4413148"/>
            <a:ext cx="2447027" cy="2232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FBB131-7217-3694-F593-4021591CC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100"/>
              <a:t>Modules PROPOSE · one orchestrator COMMITS · the gate checks every proposal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/>
              <a:t>M6a  Deterministic router   Answers maths and dates exactly, with no model      23 tokens -&gt; 0</a:t>
            </a:r>
          </a:p>
          <a:p>
            <a:pPr>
              <a:spcAft>
                <a:spcPts val="300"/>
              </a:spcAft>
            </a:pPr>
            <a:r>
              <a:rPr sz="1100"/>
              <a:t>M2   Semantic cache         Reuses an earlier answer; three-zone accept/verify/rejectprompt never sent</a:t>
            </a:r>
          </a:p>
          <a:p>
            <a:pPr>
              <a:spcAft>
                <a:spcPts val="300"/>
              </a:spcAft>
            </a:pPr>
            <a:r>
              <a:rPr sz="1100"/>
              <a:t>M3a  History selector       Keeps only the prior turns that matter (MMR)        8 turns -&gt; 6</a:t>
            </a:r>
          </a:p>
          <a:p>
            <a:pPr>
              <a:spcAft>
                <a:spcPts val="300"/>
              </a:spcAft>
            </a:pPr>
            <a:r>
              <a:rPr sz="1100"/>
              <a:t>M3b  History arranger       Orders the kept turns                               order changes cost</a:t>
            </a:r>
          </a:p>
          <a:p>
            <a:pPr>
              <a:spcAft>
                <a:spcPts val="300"/>
              </a:spcAft>
            </a:pPr>
            <a:r>
              <a:rPr sz="1100"/>
              <a:t>M1a  Tier 1 boilerplate     Strips greetings, politeness, markdown              28 -&gt; 17 tokens</a:t>
            </a:r>
          </a:p>
          <a:p>
            <a:pPr>
              <a:spcAft>
                <a:spcPts val="300"/>
              </a:spcAft>
            </a:pPr>
            <a:r>
              <a:rPr sz="1100"/>
              <a:t>M1b  Tier 2 redundancy      Deletes a sentence repeating a known fact           36 -&gt; 26 tokens</a:t>
            </a:r>
          </a:p>
          <a:p>
            <a:pPr>
              <a:spcAft>
                <a:spcPts val="300"/>
              </a:spcAft>
            </a:pPr>
            <a:r>
              <a:rPr sz="1100"/>
              <a:t>M1c  Tier 3 word level      Shortens wording, with a negative-yield guard       rejects zero-yield</a:t>
            </a:r>
          </a:p>
          <a:p>
            <a:pPr>
              <a:spcAft>
                <a:spcPts val="300"/>
              </a:spcAft>
            </a:pPr>
            <a:r>
              <a:rPr sz="1100"/>
              <a:t>M4   Prefix-stable assemblerInvariant text first, so the KV cache is reusable   212 ms vs 18,914 ms</a:t>
            </a:r>
          </a:p>
          <a:p>
            <a:pPr>
              <a:spcAft>
                <a:spcPts val="300"/>
              </a:spcAft>
            </a:pPr>
            <a:r>
              <a:rPr sz="1100"/>
              <a:t>M5   Output budgeter        Caps answer length by question class                48 ... 640 tokens</a:t>
            </a:r>
          </a:p>
          <a:p>
            <a:pPr>
              <a:spcAft>
                <a:spcPts val="300"/>
              </a:spcAft>
            </a:pPr>
            <a:r>
              <a:rPr sz="1100"/>
              <a:t>M6b  Escalation router      Decides whether a bigger model is warranted         calibrated, off</a:t>
            </a:r>
          </a:p>
          <a:p>
            <a:pPr>
              <a:spcAft>
                <a:spcPts val="300"/>
              </a:spcAft>
            </a:pPr>
            <a:r>
              <a:rPr sz="1100"/>
              <a:t>M8   FIDELITY GATE          Checks EVERY proposal above; refuses any that drops a number, name, negation or qualifier26.7% -&gt; 0.0% false answers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Framework/Architecture/Block Diagram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22-08-2026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324FF-B70A-2FC0-8FD0-C802E31DD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300"/>
              <a:t>F1  Every module independently switchable, so a factorial cell means what it claims.</a:t>
            </a:r>
          </a:p>
          <a:p>
            <a:pPr>
              <a:spcAft>
                <a:spcPts val="300"/>
              </a:spcAft>
            </a:pPr>
            <a:r>
              <a:rPr sz="1300"/>
              <a:t>F2  Stage order is configuration, validated against a reads/writes dependency graph.</a:t>
            </a:r>
          </a:p>
          <a:p>
            <a:pPr>
              <a:spcAft>
                <a:spcPts val="300"/>
              </a:spcAft>
            </a:pPr>
            <a:r>
              <a:rPr sz="1300"/>
              <a:t>F3  Every stage writes a ledger row — including stages that did nothing.</a:t>
            </a:r>
          </a:p>
          <a:p>
            <a:pPr>
              <a:spcAft>
                <a:spcPts val="300"/>
              </a:spcAft>
            </a:pPr>
            <a:r>
              <a:rPr sz="1300"/>
              <a:t>F4  No transformation is applied until the fidelity gate has approved it.</a:t>
            </a:r>
          </a:p>
          <a:p>
            <a:pPr>
              <a:spcAft>
                <a:spcPts val="300"/>
              </a:spcAft>
            </a:pPr>
            <a:r>
              <a:rPr sz="1300"/>
              <a:t>F5  A run that asks for the real model and cannot reach it REFUSES rather than</a:t>
            </a:r>
          </a:p>
          <a:p>
            <a:pPr>
              <a:spcAft>
                <a:spcPts val="300"/>
              </a:spcAft>
            </a:pPr>
            <a:r>
              <a:rPr sz="1300"/>
              <a:t>    silently falling back to the deterministic stand-in.</a:t>
            </a:r>
          </a:p>
          <a:p>
            <a:pPr>
              <a:spcAft>
                <a:spcPts val="300"/>
              </a:spcAft>
            </a:pPr>
            <a:r>
              <a:rPr sz="1300"/>
              <a:t>F6  Every reported figure regenerates from raw logs with one command (~100 s).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300"/>
              <a:t>Non-functional: CPU-only, 8 GB RAM, fully offline; middleware overhead under 120 ms;</a:t>
            </a:r>
          </a:p>
          <a:p>
            <a:pPr>
              <a:spcAft>
                <a:spcPts val="300"/>
              </a:spcAft>
            </a:pPr>
            <a:r>
              <a:rPr sz="1300"/>
              <a:t>dependencies limited to numpy, tokenizers, typer, rich, pytest.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22-08-2026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2F2ED-50F9-3DFA-95BB-1A1059C5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2560-A5FE-A724-8F39-E7E901E8F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100"/>
              <a:t>Each module is switchable independently, which is what makes the ablation valid.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/>
              <a:t>M6a   Deterministic router    Answers maths and dates exactly, with no model</a:t>
            </a:r>
          </a:p>
          <a:p>
            <a:pPr>
              <a:spcAft>
                <a:spcPts val="300"/>
              </a:spcAft>
            </a:pPr>
            <a:r>
              <a:rPr sz="1100"/>
              <a:t>M2    Semantic cache          Reuses an earlier answer; three-zone accept/verify/reject</a:t>
            </a:r>
          </a:p>
          <a:p>
            <a:pPr>
              <a:spcAft>
                <a:spcPts val="300"/>
              </a:spcAft>
            </a:pPr>
            <a:r>
              <a:rPr sz="1100"/>
              <a:t>M3a   History selector        Keeps only the prior turns that matter (MMR)</a:t>
            </a:r>
          </a:p>
          <a:p>
            <a:pPr>
              <a:spcAft>
                <a:spcPts val="300"/>
              </a:spcAft>
            </a:pPr>
            <a:r>
              <a:rPr sz="1100"/>
              <a:t>M3b   History arranger        Orders the kept turns</a:t>
            </a:r>
          </a:p>
          <a:p>
            <a:pPr>
              <a:spcAft>
                <a:spcPts val="300"/>
              </a:spcAft>
            </a:pPr>
            <a:r>
              <a:rPr sz="1100"/>
              <a:t>M1a   Tier 1 boilerplate      Strips greetings, politeness, markdown</a:t>
            </a:r>
          </a:p>
          <a:p>
            <a:pPr>
              <a:spcAft>
                <a:spcPts val="300"/>
              </a:spcAft>
            </a:pPr>
            <a:r>
              <a:rPr sz="1100"/>
              <a:t>M1b   Tier 2 redundancy       Deletes a sentence repeating a known fact</a:t>
            </a:r>
          </a:p>
          <a:p>
            <a:pPr>
              <a:spcAft>
                <a:spcPts val="300"/>
              </a:spcAft>
            </a:pPr>
            <a:r>
              <a:rPr sz="1100"/>
              <a:t>M1c   Tier 3 word level       Shortens wording, with a negative-yield guard</a:t>
            </a:r>
          </a:p>
          <a:p>
            <a:pPr>
              <a:spcAft>
                <a:spcPts val="300"/>
              </a:spcAft>
            </a:pPr>
            <a:r>
              <a:rPr sz="1100"/>
              <a:t>M4    Prefix-stable assembler Invariant text first, so the KV cache is reusable</a:t>
            </a:r>
          </a:p>
          <a:p>
            <a:pPr>
              <a:spcAft>
                <a:spcPts val="300"/>
              </a:spcAft>
            </a:pPr>
            <a:r>
              <a:rPr sz="1100"/>
              <a:t>M5    Output budgeter         Caps answer length by question class</a:t>
            </a:r>
          </a:p>
          <a:p>
            <a:pPr>
              <a:spcAft>
                <a:spcPts val="300"/>
              </a:spcAft>
            </a:pPr>
            <a:r>
              <a:rPr sz="1100"/>
              <a:t>M6b   Escalation router       Decides whether a bigger model is warranted</a:t>
            </a:r>
          </a:p>
          <a:p>
            <a:pPr>
              <a:spcAft>
                <a:spcPts val="300"/>
              </a:spcAft>
            </a:pPr>
            <a:r>
              <a:rPr sz="1100"/>
              <a:t>M8    FIDELITY GATE           Checks EVERY proposal above; refuses any that drops a number, name, negation or qualifier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27DA514-48FC-4BF4-8205-DE21D456C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A04E0-6631-130F-A154-C85D978E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22-08-2026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15995-EDEB-C984-B852-1229C23B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F5109-389C-3E37-E553-A559233EF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9870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100"/>
              <a:t>Headline — savings do not compound</a:t>
            </a:r>
          </a:p>
          <a:p>
            <a:pPr>
              <a:spcAft>
                <a:spcPts val="300"/>
              </a:spcAft>
            </a:pPr>
            <a:r>
              <a:rPr sz="1100"/>
              <a:t>    M5 output budgeter  +13.44 pp   (eta^2 0.556)</a:t>
            </a:r>
          </a:p>
          <a:p>
            <a:pPr>
              <a:spcAft>
                <a:spcPts val="300"/>
              </a:spcAft>
            </a:pPr>
            <a:r>
              <a:rPr sz="1100"/>
              <a:t>    M3 history manager  +11.82 pp   (eta^2 0.430)</a:t>
            </a:r>
          </a:p>
          <a:p>
            <a:pPr>
              <a:spcAft>
                <a:spcPts val="300"/>
              </a:spcAft>
            </a:pPr>
            <a:r>
              <a:rPr sz="1100"/>
              <a:t>    M2 semantic cache    +1.94 pp</a:t>
            </a:r>
          </a:p>
          <a:p>
            <a:pPr>
              <a:spcAft>
                <a:spcPts val="300"/>
              </a:spcAft>
            </a:pPr>
            <a:r>
              <a:rPr sz="1100"/>
              <a:t>    M1 compressor        +0.23 pp</a:t>
            </a:r>
          </a:p>
          <a:p>
            <a:pPr>
              <a:spcAft>
                <a:spcPts val="300"/>
              </a:spcAft>
            </a:pPr>
            <a:r>
              <a:rPr sz="1100"/>
              <a:t>    Full stack: +33.9% total token reduction</a:t>
            </a:r>
          </a:p>
          <a:p>
            <a:pPr>
              <a:spcAft>
                <a:spcPts val="300"/>
              </a:spcAft>
            </a:pPr>
            <a:r>
              <a:rPr sz="1100"/>
              <a:t>    Additivity shortfall: 1.63 pp, 95% CI [-0.02, +3.23]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/>
              <a:t>Prefill dominates on CPU</a:t>
            </a:r>
          </a:p>
          <a:p>
            <a:pPr>
              <a:spcAft>
                <a:spcPts val="300"/>
              </a:spcAft>
            </a:pPr>
            <a:r>
              <a:rPr sz="1100"/>
              <a:t>    146 tokens -&gt;  1,360 ms prefill   (91.7% of total)</a:t>
            </a:r>
          </a:p>
          <a:p>
            <a:pPr>
              <a:spcAft>
                <a:spcPts val="300"/>
              </a:spcAft>
            </a:pPr>
            <a:r>
              <a:rPr sz="1100"/>
              <a:t>    1,338 tokens -&gt; 11,609 ms prefill  (98.8% of total)</a:t>
            </a:r>
          </a:p>
          <a:p>
            <a:pPr>
              <a:spcAft>
                <a:spcPts val="300"/>
              </a:spcAft>
            </a:pPr>
            <a:r>
              <a:rPr sz="1100"/>
              <a:t>    ~8.5 ms per input token  =&gt;  100.6 s saved across the corpus, 383 ms/request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/>
              <a:t>Safety: the verifier, not the threshold</a:t>
            </a:r>
          </a:p>
          <a:p>
            <a:pPr>
              <a:spcAft>
                <a:spcPts val="300"/>
              </a:spcAft>
            </a:pPr>
            <a:r>
              <a:rPr sz="1100"/>
              <a:t>    Adversarial negation pair sits at cosine 0.924 — ABOVE every genuine paraphrase</a:t>
            </a:r>
          </a:p>
          <a:p>
            <a:pPr>
              <a:spcAft>
                <a:spcPts val="300"/>
              </a:spcAft>
            </a:pPr>
            <a:r>
              <a:rPr sz="1100"/>
              <a:t>    False-answer rate 26.7% -&gt; 0.0% at tau &gt;= 0.92, on 45 adversarial + 45 controls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/>
              <a:t>Quality is not the price</a:t>
            </a:r>
          </a:p>
          <a:p>
            <a:pPr>
              <a:spcAft>
                <a:spcPts val="300"/>
              </a:spcAft>
            </a:pPr>
            <a:r>
              <a:rPr sz="1100"/>
              <a:t>    Gold accuracy, real model: baseline 92.5%  -&gt;  full stack 97.5%</a:t>
            </a:r>
          </a:p>
          <a:p>
            <a:pPr>
              <a:spcAft>
                <a:spcPts val="300"/>
              </a:spcAft>
            </a:pPr>
            <a:r>
              <a:rPr sz="1100"/>
              <a:t>    Zero regressions: not one answer the baseline got right was lost</a:t>
            </a:r>
          </a:p>
          <a:p>
            <a:pPr>
              <a:spcAft>
                <a:spcPts val="300"/>
              </a:spcAft>
            </a:pP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22-08-2026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49A39-F362-DB35-B5DF-7E322AB9C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F33DD-84F0-A7F9-A1DC-A4DEA1A7D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200"/>
              <a:t>The literature has a rich toolbox and a thin account of what happens when the tools</a:t>
            </a:r>
          </a:p>
          <a:p>
            <a:pPr>
              <a:spcAft>
                <a:spcPts val="300"/>
              </a:spcAft>
            </a:pPr>
            <a:r>
              <a:rPr sz="1200"/>
              <a:t>are used together. The contribution here is a MEASUREMENT INSTRUMENT: eight techniques</a:t>
            </a:r>
          </a:p>
          <a:p>
            <a:pPr>
              <a:spcAft>
                <a:spcPts val="300"/>
              </a:spcAft>
            </a:pPr>
            <a:r>
              <a:rPr sz="1200"/>
              <a:t>in one harness, each independently switchable, every decision written to a ledger.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200"/>
              <a:t>What it found, repeatedly, is that published operating points are configuration-specific.</a:t>
            </a:r>
          </a:p>
          <a:p>
            <a:pPr>
              <a:spcAft>
                <a:spcPts val="300"/>
              </a:spcAft>
            </a:pPr>
            <a:r>
              <a:rPr sz="1200"/>
              <a:t>A threshold quoted as safe is unsafe here. A placement strategy justified by a well-cited</a:t>
            </a:r>
          </a:p>
          <a:p>
            <a:pPr>
              <a:spcAft>
                <a:spcPts val="300"/>
              </a:spcAft>
            </a:pPr>
            <a:r>
              <a:rPr sz="1200"/>
              <a:t>attention result is 80x more expensive here. A calibration transfers as a ratio but not as</a:t>
            </a:r>
          </a:p>
          <a:p>
            <a:pPr>
              <a:spcAft>
                <a:spcPts val="300"/>
              </a:spcAft>
            </a:pPr>
            <a:r>
              <a:rPr sz="1200"/>
              <a:t>a mechanism. An escalation premise that holds at 70B does not hold at 3B.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200"/>
              <a:t>For this class of system the deliverable is a CALIBRATION PROCEDURE, not a number.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200"/>
              <a:t>Status: 719 automated tests passing; 39 architecture decision records; all figures</a:t>
            </a:r>
          </a:p>
          <a:p>
            <a:pPr>
              <a:spcAft>
                <a:spcPts val="300"/>
              </a:spcAft>
            </a:pPr>
            <a:r>
              <a:rPr sz="1200"/>
              <a:t>regenerate from raw logs in about 100 seconds.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3754A46F-4AC3-5AF1-0B78-C0B5112BD1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1BAA61-633E-E24B-7DEE-4B2A2B1FA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22-08-2026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3C553-2D0C-5A0A-39DC-21C43BD8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7A7E9-45BE-62F4-D3A6-F19DC6ABE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7498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C4F09CD-956A-B8B3-1183-9C28C80DDB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45592" y="1442399"/>
            <a:ext cx="1051560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</a:pPr>
            <a:r>
              <a:rPr sz="1000"/>
              <a:t>[1] Y. Li, B. Dong, C. Lin, F. Guerin, "Compressing Context to Enhance Inference Efficiency of Large Language Models," EMNLP, 2023.</a:t>
            </a:r>
          </a:p>
          <a:p>
            <a:pPr>
              <a:spcAft>
                <a:spcPts val="300"/>
              </a:spcAft>
            </a:pPr>
            <a:r>
              <a:rPr sz="1000"/>
              <a:t>[2] H. Jiang, Q. Wu, C.-Y. Lin, Y. Yang, L. Qiu, "LLMLingua: Compressing Prompts for Accelerated Inference of Large Language Models," EMNLP, 2023.</a:t>
            </a:r>
          </a:p>
          <a:p>
            <a:pPr>
              <a:spcAft>
                <a:spcPts val="300"/>
              </a:spcAft>
            </a:pPr>
            <a:r>
              <a:rPr sz="1000"/>
              <a:t>[3] F. Bang, "GPTCache: An Open-Source Semantic Cache for LLM Applications," NLP-OSS at EMNLP, 2023.</a:t>
            </a:r>
          </a:p>
          <a:p>
            <a:pPr>
              <a:spcAft>
                <a:spcPts val="300"/>
              </a:spcAft>
            </a:pPr>
            <a:r>
              <a:rPr sz="1000"/>
              <a:t>[4] W. Kwon et al., "Efficient Memory Management for Large Language Model Serving with PagedAttention," SOSP, 2023.</a:t>
            </a:r>
          </a:p>
          <a:p>
            <a:pPr>
              <a:spcAft>
                <a:spcPts val="300"/>
              </a:spcAft>
            </a:pPr>
            <a:r>
              <a:rPr sz="1000"/>
              <a:t>[5] N. F. Liu et al., "Lost in the Middle: How Language Models Use Long Contexts," TACL, vol. 12, pp. 157–173, 2024.</a:t>
            </a:r>
          </a:p>
          <a:p>
            <a:pPr>
              <a:spcAft>
                <a:spcPts val="300"/>
              </a:spcAft>
            </a:pPr>
            <a:r>
              <a:rPr sz="1000"/>
              <a:t>[6] L. Chen, M. Zaharia, J. Zou, "FrugalGPT: How to Use Large Language Models While Reducing Cost and Improving Performance," arXiv:2305.05176, 2023.</a:t>
            </a:r>
          </a:p>
          <a:p>
            <a:pPr>
              <a:spcAft>
                <a:spcPts val="300"/>
              </a:spcAft>
            </a:pPr>
            <a:r>
              <a:rPr sz="1000"/>
              <a:t>[7] I. Ong et al., "RouteLLM: Learning to Route LLMs with Preference Data," arXiv:2406.18665, 2024.</a:t>
            </a:r>
          </a:p>
          <a:p>
            <a:pPr>
              <a:spcAft>
                <a:spcPts val="300"/>
              </a:spcAft>
            </a:pPr>
            <a:r>
              <a:rPr sz="1000"/>
              <a:t>[8] "An Empirical Study on Prompt Compression for Large Language Models," ICLR, 2025.</a:t>
            </a:r>
          </a:p>
          <a:p>
            <a:pPr>
              <a:spcAft>
                <a:spcPts val="300"/>
              </a:spcAft>
            </a:pPr>
            <a:r>
              <a:rPr sz="1000"/>
              <a:t>[9] "From Similarity to Vulnerability: Key Collision Attack on LLM Semantic Caching," arXiv:2601.23088, 2026.</a:t>
            </a:r>
          </a:p>
          <a:p>
            <a:pPr>
              <a:spcAft>
                <a:spcPts val="300"/>
              </a:spcAft>
            </a:pPr>
            <a:r>
              <a:rPr sz="1000"/>
              <a:t>[10] "Enhancing adversarial resilience in semantic caching for secure retrieval augmented generation systems," Scientific Reports, 2026.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/>
              <a:t>Full 40-paper survey with limitations and metrics: docs/13-review2-dossier.md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7B6C-E68D-4047-8A1E-3C7BD2842AF7}" type="datetime1">
              <a:rPr lang="en-IN" smtClean="0"/>
              <a:t>22-08-2026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273</Words>
  <Application>Microsoft Office PowerPoint</Application>
  <PresentationFormat>Widescreen</PresentationFormat>
  <Paragraphs>78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Times New Roman</vt:lpstr>
      <vt:lpstr>Office Theme</vt:lpstr>
      <vt:lpstr>&lt;&lt;Programme B.Tech/ M.Tech Course Code – Course Title&gt;&gt; &lt;&lt;Project Title&gt;&gt;</vt:lpstr>
      <vt:lpstr>Approval Mail From Guide</vt:lpstr>
      <vt:lpstr>Aim</vt:lpstr>
      <vt:lpstr>Abstract</vt:lpstr>
      <vt:lpstr>Literature Review</vt:lpstr>
      <vt:lpstr>Research Gap</vt:lpstr>
      <vt:lpstr>Objectives</vt:lpstr>
      <vt:lpstr>Framework/Architecture/Block Diagram</vt:lpstr>
      <vt:lpstr>Functional Requirements</vt:lpstr>
      <vt:lpstr>Modules</vt:lpstr>
      <vt:lpstr>Experiments and Results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Parthasarathy G</dc:creator>
  <cp:lastModifiedBy>Parthasarathy G</cp:lastModifiedBy>
  <cp:revision>5</cp:revision>
  <dcterms:created xsi:type="dcterms:W3CDTF">2026-07-14T06:00:41Z</dcterms:created>
  <dcterms:modified xsi:type="dcterms:W3CDTF">2026-08-22T10:32:54Z</dcterms:modified>
</cp:coreProperties>
</file>